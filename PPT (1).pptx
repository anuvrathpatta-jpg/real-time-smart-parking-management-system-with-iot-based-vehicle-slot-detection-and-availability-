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Cabin" panose="020B0604020202020204" charset="0"/>
      <p:regular r:id="rId9"/>
    </p:embeddedFont>
    <p:embeddedFont>
      <p:font typeface="Cabin Bold" panose="020B0604020202020204" charset="0"/>
      <p:regular r:id="rId10"/>
    </p:embeddedFont>
    <p:embeddedFont>
      <p:font typeface="Unbounde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8026C-FFB9-44EF-B166-675DB81559B2}" v="5" dt="2026-10-02T15:48:23.0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KESH VARMA" userId="5a6544d979890337" providerId="LiveId" clId="{18709C81-8BFC-496B-85F4-F173543D6FD6}"/>
    <pc:docChg chg="modSld">
      <pc:chgData name="LOKESH VARMA" userId="5a6544d979890337" providerId="LiveId" clId="{18709C81-8BFC-496B-85F4-F173543D6FD6}" dt="2026-10-02T15:48:39.864" v="24" actId="1076"/>
      <pc:docMkLst>
        <pc:docMk/>
      </pc:docMkLst>
      <pc:sldChg chg="addSp modSp mod">
        <pc:chgData name="LOKESH VARMA" userId="5a6544d979890337" providerId="LiveId" clId="{18709C81-8BFC-496B-85F4-F173543D6FD6}" dt="2026-10-02T15:48:39.864" v="24" actId="1076"/>
        <pc:sldMkLst>
          <pc:docMk/>
          <pc:sldMk cId="0" sldId="256"/>
        </pc:sldMkLst>
        <pc:spChg chg="add mod">
          <ac:chgData name="LOKESH VARMA" userId="5a6544d979890337" providerId="LiveId" clId="{18709C81-8BFC-496B-85F4-F173543D6FD6}" dt="2026-10-02T15:48:39.864" v="24" actId="1076"/>
          <ac:spMkLst>
            <pc:docMk/>
            <pc:sldMk cId="0" sldId="256"/>
            <ac:spMk id="6" creationId="{B5776AFF-4531-D90B-8DB8-12F3CE00E8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2063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522" y="513953"/>
            <a:ext cx="4372461" cy="5830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040606"/>
            <a:ext cx="6223638" cy="35200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Smart Parking Management System with IoT-Based Vehicle Slot Detection and Availability Monitoring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698086" y="485983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 IoT-enabled system designed to detect vehicle occupancy and monitor parking-slot availability in real time — improving parking efficiency and reducing the time drivers spend searching for available spaces.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776AFF-4531-D90B-8DB8-12F3CE00E806}"/>
              </a:ext>
            </a:extLst>
          </p:cNvPr>
          <p:cNvSpPr txBox="1"/>
          <p:nvPr/>
        </p:nvSpPr>
        <p:spPr>
          <a:xfrm>
            <a:off x="8400577" y="6416357"/>
            <a:ext cx="3791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PANTULA ANUVRATH   323129520012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107" y="482699"/>
            <a:ext cx="4419192" cy="58925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86581"/>
            <a:ext cx="6223638" cy="449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98086" y="1316236"/>
            <a:ext cx="2925590" cy="182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Finding available parking spaces in crowded urban areas is a major challenge. Traditional parking systems depend heavily on </a:t>
            </a:r>
            <a:r>
              <a:rPr lang="en-US" sz="12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manual monitoring</a:t>
            </a: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leaving drivers to search without guidance.</a:t>
            </a:r>
            <a:endParaRPr lang="en-US" sz="120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There is a clear need for an intelligent system that automatically detects vehicle occupancy and provides real-time parking information.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02483" y="1327944"/>
            <a:ext cx="2925590" cy="449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 Difficulties Contribute To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02483" y="1908473"/>
            <a:ext cx="2925590" cy="1078012"/>
          </a:xfrm>
          <a:prstGeom prst="roundRect">
            <a:avLst>
              <a:gd name="adj" fmla="val 2125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4155177" y="2061170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Traffic Congestion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155177" y="2402582"/>
            <a:ext cx="2620202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Vehicles circling for open spots block traffic flow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02483" y="3103364"/>
            <a:ext cx="2925590" cy="862409"/>
          </a:xfrm>
          <a:prstGeom prst="roundRect">
            <a:avLst>
              <a:gd name="adj" fmla="val 2656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4155177" y="3256062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Fuel Wastage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155177" y="3597473"/>
            <a:ext cx="262020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Unnecessary driving burns extra fuel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02483" y="4082653"/>
            <a:ext cx="2925590" cy="862409"/>
          </a:xfrm>
          <a:prstGeom prst="roundRect">
            <a:avLst>
              <a:gd name="adj" fmla="val 2656"/>
            </a:avLst>
          </a:prstGeom>
          <a:solidFill>
            <a:srgbClr val="304755"/>
          </a:solidFill>
          <a:ln/>
        </p:spPr>
      </p:sp>
      <p:sp>
        <p:nvSpPr>
          <p:cNvPr id="14" name="Text 11"/>
          <p:cNvSpPr/>
          <p:nvPr/>
        </p:nvSpPr>
        <p:spPr>
          <a:xfrm>
            <a:off x="4155177" y="4235351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Increased Travel Time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155177" y="4576763"/>
            <a:ext cx="2620202" cy="215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Drivers lose valuable time searching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002483" y="5061942"/>
            <a:ext cx="2925590" cy="1078012"/>
          </a:xfrm>
          <a:prstGeom prst="roundRect">
            <a:avLst>
              <a:gd name="adj" fmla="val 2125"/>
            </a:avLst>
          </a:prstGeom>
          <a:solidFill>
            <a:srgbClr val="304755"/>
          </a:solidFill>
          <a:ln/>
        </p:spPr>
      </p:sp>
      <p:sp>
        <p:nvSpPr>
          <p:cNvPr id="17" name="Text 14"/>
          <p:cNvSpPr/>
          <p:nvPr/>
        </p:nvSpPr>
        <p:spPr>
          <a:xfrm>
            <a:off x="4155177" y="5214640"/>
            <a:ext cx="2620202" cy="224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Inefficient Space Use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55177" y="5556052"/>
            <a:ext cx="2620202" cy="431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Available slots go undetected and unused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61975"/>
            <a:ext cx="10795524" cy="467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Proposed Solution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1361976"/>
            <a:ext cx="3526345" cy="35264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8517" y="2722860"/>
            <a:ext cx="6881343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Smart Parking Management System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18517" y="3083223"/>
            <a:ext cx="6881343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proposed system uses </a:t>
            </a:r>
            <a:r>
              <a:rPr lang="en-US" sz="12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IoT-based vehicle-slot detection</a:t>
            </a: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continuously monitor parking spaces, identifying whether individual slots are occupied or vacant.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5173365"/>
            <a:ext cx="3514042" cy="112256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278" y="5351363"/>
            <a:ext cx="3081856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Continuous Monitoring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952278" y="5661124"/>
            <a:ext cx="3081856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spaces are monitored at all times without manual intervention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8727" y="5173365"/>
            <a:ext cx="3514141" cy="112256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92919" y="5351363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Centralized Platform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4592919" y="5661124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information is updated in real time through a centralized monitoring platform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9468" y="5173365"/>
            <a:ext cx="3514141" cy="112256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33660" y="5351363"/>
            <a:ext cx="3081955" cy="233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Dual Audience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8233660" y="5661124"/>
            <a:ext cx="3081955" cy="456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Useful information delivered to both drivers and parking administrators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0475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2" y="478631"/>
            <a:ext cx="4425442" cy="59007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639862"/>
            <a:ext cx="6223638" cy="430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Objectives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9971" y="1231999"/>
            <a:ext cx="366207" cy="3662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269971" y="1732657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Automatic Detection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269971" y="2012553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Automatically detect vehicle presence in individual parking slots and monitor availability continuously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69971" y="2430760"/>
            <a:ext cx="366207" cy="3662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69971" y="2931418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Reduce Search Time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5269971" y="3211314"/>
            <a:ext cx="622363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Reduce parking search time for drivers and minimize unnecessary traffic movement and fuel consumption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69971" y="3832622"/>
            <a:ext cx="366207" cy="3662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269971" y="4333280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Improve Utilization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5269971" y="4613176"/>
            <a:ext cx="6223638" cy="4062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Improve utilization of available parking spaces and help administrators monitor and optimize operations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69971" y="5234484"/>
            <a:ext cx="366207" cy="3662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69971" y="5735141"/>
            <a:ext cx="6223638" cy="215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City Support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5269971" y="6015038"/>
            <a:ext cx="6223638" cy="203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Support efficient smart-city infrastructure with scalable, real-time parking information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0763"/>
            <a:ext cx="1079552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IoT-Based Slot Detection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86" y="974824"/>
            <a:ext cx="5276123" cy="5276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3836" y="3123208"/>
            <a:ext cx="527612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IoT plays a central role in the system.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Ultrasonic sensors or infrared sensors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are deployed to detect vehicle presence at each individual parking slot.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6223836" y="3407370"/>
            <a:ext cx="5276123" cy="530721"/>
          </a:xfrm>
          <a:prstGeom prst="rect">
            <a:avLst/>
          </a:prstGeom>
          <a:noFill/>
          <a:ln/>
        </p:spPr>
        <p:txBody>
          <a:bodyPr wrap="square" lIns="0" tIns="39896" rIns="0" bIns="0" rtlCol="0" anchor="t">
            <a:normAutofit/>
          </a:bodyPr>
          <a:lstStyle/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continuously monitor individual parking slots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slot is identified as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occupied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when a vehicle is detected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 slot is identified as </a:t>
            </a:r>
            <a:r>
              <a:rPr lang="en-US" sz="7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vacant</a:t>
            </a: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when no vehicle is detected</a:t>
            </a:r>
            <a:endParaRPr lang="en-US" sz="750" dirty="0"/>
          </a:p>
          <a:p>
            <a:pPr marL="152400" indent="-152400" algn="l">
              <a:lnSpc>
                <a:spcPct val="100000"/>
              </a:lnSpc>
              <a:buSzPct val="100000"/>
              <a:buChar char="•"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IoT communication modules transmit sensor information to the monitoring system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6223836" y="3982938"/>
            <a:ext cx="5885707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Continuous sensor monitoring enables real-time availability updates across the entire parking facility.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01563"/>
            <a:ext cx="10795524" cy="320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Components and Working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98086" y="1071364"/>
            <a:ext cx="4158551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Major Components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98086" y="1298873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5" name="Shape 3"/>
          <p:cNvSpPr/>
          <p:nvPr/>
        </p:nvSpPr>
        <p:spPr>
          <a:xfrm>
            <a:off x="807124" y="1407914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113" y="1497806"/>
            <a:ext cx="147237" cy="1472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7124" y="1794768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Parking-Slot Sensors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98086" y="2123877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807124" y="2232918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7113" y="2322810"/>
            <a:ext cx="147237" cy="14724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7124" y="2619772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IoT Communication Modules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98086" y="2948880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13" name="Shape 9"/>
          <p:cNvSpPr/>
          <p:nvPr/>
        </p:nvSpPr>
        <p:spPr>
          <a:xfrm>
            <a:off x="807124" y="3057922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7113" y="3147814"/>
            <a:ext cx="147237" cy="14724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07124" y="3444776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Cloud-Based Monitoring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98086" y="3773884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17" name="Shape 12"/>
          <p:cNvSpPr/>
          <p:nvPr/>
        </p:nvSpPr>
        <p:spPr>
          <a:xfrm>
            <a:off x="807124" y="3882926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7113" y="3972818"/>
            <a:ext cx="147237" cy="14724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07124" y="4269780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Parking Database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98086" y="4598888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21" name="Shape 15"/>
          <p:cNvSpPr/>
          <p:nvPr/>
        </p:nvSpPr>
        <p:spPr>
          <a:xfrm>
            <a:off x="807124" y="4707930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7113" y="4797822"/>
            <a:ext cx="147237" cy="14724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07124" y="5094784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User / Admin Interface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98086" y="5423892"/>
            <a:ext cx="4158551" cy="765373"/>
          </a:xfrm>
          <a:prstGeom prst="roundRect">
            <a:avLst>
              <a:gd name="adj" fmla="val 2138"/>
            </a:avLst>
          </a:prstGeom>
          <a:solidFill>
            <a:srgbClr val="304755"/>
          </a:solidFill>
          <a:ln/>
        </p:spPr>
      </p:sp>
      <p:sp>
        <p:nvSpPr>
          <p:cNvPr id="25" name="Shape 18"/>
          <p:cNvSpPr/>
          <p:nvPr/>
        </p:nvSpPr>
        <p:spPr>
          <a:xfrm>
            <a:off x="807124" y="5532934"/>
            <a:ext cx="327215" cy="327223"/>
          </a:xfrm>
          <a:prstGeom prst="ellipse">
            <a:avLst/>
          </a:prstGeom>
          <a:solidFill>
            <a:srgbClr val="0A988B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7113" y="5622826"/>
            <a:ext cx="147237" cy="147241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07124" y="5919787"/>
            <a:ext cx="39404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Alert Mechanism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5129084" y="1071364"/>
            <a:ext cx="637087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Step-by-Step Working Process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5129084" y="1298873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01</a:t>
            </a:r>
            <a:endParaRPr lang="en-US" sz="850" dirty="0"/>
          </a:p>
        </p:txBody>
      </p:sp>
      <p:sp>
        <p:nvSpPr>
          <p:cNvPr id="30" name="Shape 22"/>
          <p:cNvSpPr/>
          <p:nvPr/>
        </p:nvSpPr>
        <p:spPr>
          <a:xfrm>
            <a:off x="5129084" y="1471414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1" name="Text 23"/>
          <p:cNvSpPr/>
          <p:nvPr/>
        </p:nvSpPr>
        <p:spPr>
          <a:xfrm>
            <a:off x="5129084" y="1551285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Sensors Monitor Slots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5129084" y="1771352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Sensors monitor individual parking slots continuously</a:t>
            </a:r>
            <a:endParaRPr lang="en-US" sz="850" dirty="0"/>
          </a:p>
        </p:txBody>
      </p:sp>
      <p:sp>
        <p:nvSpPr>
          <p:cNvPr id="33" name="Text 25"/>
          <p:cNvSpPr/>
          <p:nvPr/>
        </p:nvSpPr>
        <p:spPr>
          <a:xfrm>
            <a:off x="8344287" y="1298873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02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8344287" y="1471414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5" name="Text 27"/>
          <p:cNvSpPr/>
          <p:nvPr/>
        </p:nvSpPr>
        <p:spPr>
          <a:xfrm>
            <a:off x="8344287" y="1551285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Vehicle Presence Detected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8344287" y="1771352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Occupancy status is determined for each slot</a:t>
            </a:r>
            <a:endParaRPr lang="en-US" sz="850" dirty="0"/>
          </a:p>
        </p:txBody>
      </p:sp>
      <p:sp>
        <p:nvSpPr>
          <p:cNvPr id="37" name="Text 29"/>
          <p:cNvSpPr/>
          <p:nvPr/>
        </p:nvSpPr>
        <p:spPr>
          <a:xfrm>
            <a:off x="5129084" y="2047776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03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5129084" y="2220317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39" name="Text 31"/>
          <p:cNvSpPr/>
          <p:nvPr/>
        </p:nvSpPr>
        <p:spPr>
          <a:xfrm>
            <a:off x="5129084" y="2300188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Transmitted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129084" y="2520255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Sensor data is transmitted through IoT communication modules</a:t>
            </a:r>
            <a:endParaRPr lang="en-US" sz="850" dirty="0"/>
          </a:p>
        </p:txBody>
      </p:sp>
      <p:sp>
        <p:nvSpPr>
          <p:cNvPr id="41" name="Text 33"/>
          <p:cNvSpPr/>
          <p:nvPr/>
        </p:nvSpPr>
        <p:spPr>
          <a:xfrm>
            <a:off x="8344287" y="2047776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04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8344287" y="2220317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3" name="Text 35"/>
          <p:cNvSpPr/>
          <p:nvPr/>
        </p:nvSpPr>
        <p:spPr>
          <a:xfrm>
            <a:off x="8344287" y="2300188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Information Processed</a:t>
            </a:r>
            <a:endParaRPr lang="en-US" sz="1000" dirty="0"/>
          </a:p>
        </p:txBody>
      </p:sp>
      <p:sp>
        <p:nvSpPr>
          <p:cNvPr id="44" name="Text 36"/>
          <p:cNvSpPr/>
          <p:nvPr/>
        </p:nvSpPr>
        <p:spPr>
          <a:xfrm>
            <a:off x="8344287" y="2520255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Parking information is processed and stored in the database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5129084" y="2796679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05</a:t>
            </a:r>
            <a:endParaRPr lang="en-US" sz="850" dirty="0"/>
          </a:p>
        </p:txBody>
      </p:sp>
      <p:sp>
        <p:nvSpPr>
          <p:cNvPr id="46" name="Shape 38"/>
          <p:cNvSpPr/>
          <p:nvPr/>
        </p:nvSpPr>
        <p:spPr>
          <a:xfrm>
            <a:off x="5129084" y="2969220"/>
            <a:ext cx="31555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47" name="Text 39"/>
          <p:cNvSpPr/>
          <p:nvPr/>
        </p:nvSpPr>
        <p:spPr>
          <a:xfrm>
            <a:off x="5129084" y="3049091"/>
            <a:ext cx="31555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Updates Availability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5129084" y="3269159"/>
            <a:ext cx="31555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cloud-based system updates slot availability in real time</a:t>
            </a:r>
            <a:endParaRPr lang="en-US" sz="850" dirty="0"/>
          </a:p>
        </p:txBody>
      </p:sp>
      <p:sp>
        <p:nvSpPr>
          <p:cNvPr id="49" name="Text 41"/>
          <p:cNvSpPr/>
          <p:nvPr/>
        </p:nvSpPr>
        <p:spPr>
          <a:xfrm>
            <a:off x="8344287" y="2796679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06</a:t>
            </a:r>
            <a:endParaRPr lang="en-US" sz="850" dirty="0"/>
          </a:p>
        </p:txBody>
      </p:sp>
      <p:sp>
        <p:nvSpPr>
          <p:cNvPr id="50" name="Shape 42"/>
          <p:cNvSpPr/>
          <p:nvPr/>
        </p:nvSpPr>
        <p:spPr>
          <a:xfrm>
            <a:off x="8344287" y="2969220"/>
            <a:ext cx="3155673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1" name="Text 43"/>
          <p:cNvSpPr/>
          <p:nvPr/>
        </p:nvSpPr>
        <p:spPr>
          <a:xfrm>
            <a:off x="8344287" y="3049091"/>
            <a:ext cx="3155673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Dashboard Displays Status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8344287" y="3269159"/>
            <a:ext cx="3155673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Occupied and vacant slots are shown on the live dashboard</a:t>
            </a:r>
            <a:endParaRPr lang="en-US" sz="850" dirty="0"/>
          </a:p>
        </p:txBody>
      </p:sp>
      <p:sp>
        <p:nvSpPr>
          <p:cNvPr id="53" name="Text 45"/>
          <p:cNvSpPr/>
          <p:nvPr/>
        </p:nvSpPr>
        <p:spPr>
          <a:xfrm>
            <a:off x="5129084" y="3545582"/>
            <a:ext cx="218177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Unbounded Light" pitchFamily="34" charset="0"/>
                <a:ea typeface="Unbounded Light" pitchFamily="34" charset="-122"/>
                <a:cs typeface="Unbounded Light" pitchFamily="34" charset="-120"/>
              </a:rPr>
              <a:t>07</a:t>
            </a:r>
            <a:endParaRPr lang="en-US" sz="850" dirty="0"/>
          </a:p>
        </p:txBody>
      </p:sp>
      <p:sp>
        <p:nvSpPr>
          <p:cNvPr id="54" name="Shape 46"/>
          <p:cNvSpPr/>
          <p:nvPr/>
        </p:nvSpPr>
        <p:spPr>
          <a:xfrm>
            <a:off x="5129084" y="3718123"/>
            <a:ext cx="6370875" cy="12700"/>
          </a:xfrm>
          <a:prstGeom prst="rect">
            <a:avLst/>
          </a:prstGeom>
          <a:solidFill>
            <a:srgbClr val="0A988B"/>
          </a:solidFill>
          <a:ln/>
        </p:spPr>
      </p:sp>
      <p:sp>
        <p:nvSpPr>
          <p:cNvPr id="55" name="Text 47"/>
          <p:cNvSpPr/>
          <p:nvPr/>
        </p:nvSpPr>
        <p:spPr>
          <a:xfrm>
            <a:off x="5129084" y="3797995"/>
            <a:ext cx="6370875" cy="16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Decisions Made</a:t>
            </a:r>
            <a:endParaRPr lang="en-US" sz="1000" dirty="0"/>
          </a:p>
        </p:txBody>
      </p:sp>
      <p:sp>
        <p:nvSpPr>
          <p:cNvPr id="56" name="Text 48"/>
          <p:cNvSpPr/>
          <p:nvPr/>
        </p:nvSpPr>
        <p:spPr>
          <a:xfrm>
            <a:off x="5129084" y="4018062"/>
            <a:ext cx="6370875" cy="13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Drivers and administrators use updated information for parking decisions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455</Words>
  <Application>Microsoft Office PowerPoint</Application>
  <PresentationFormat>Widescreen</PresentationFormat>
  <Paragraphs>76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Cabin Bold</vt:lpstr>
      <vt:lpstr>Unbounded Light</vt:lpstr>
      <vt:lpstr>Cabin</vt:lpstr>
      <vt:lpstr>Unbounded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1</cp:revision>
  <dcterms:created xsi:type="dcterms:W3CDTF">2026-08-19T06:19:18Z</dcterms:created>
  <dcterms:modified xsi:type="dcterms:W3CDTF">2026-10-02T15:48:40Z</dcterms:modified>
</cp:coreProperties>
</file>